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695" cy="6858000" type="screen16x9"/>
  <p:notesSz cx="6858000" cy="12191695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  <p:clrMap accent1="36C5C7" accent2="F4A261" accent3="8BD3DD" accent4="D96C75" bg1="091521" tx1="F4F8FB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658368" y="685800"/>
            <a:ext cx="91440" cy="1234440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960120" y="704088"/>
            <a:ext cx="88696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100" b="1">
                <a:solidFill>
                  <a:srgbClr val="6D8AA0"/>
                </a:solidFill>
                <a:latin typeface="Aptos"/>
                <a:ea typeface="Microsoft YaHei"/>
              </a:rPr>
              <a:t>2026 HUAWEI BISHENG CUP</a:t>
            </a:r>
            <a:endParaRPr lang="zh-CN" sz="1100"/>
          </a:p>
        </p:txBody>
      </p:sp>
      <p:sp>
        <p:nvSpPr>
          <p:cNvPr id="4" name="Shape 4"/>
          <p:cNvSpPr/>
          <p:nvPr/>
        </p:nvSpPr>
        <p:spPr>
          <a:xfrm>
            <a:off x="960120" y="1143000"/>
            <a:ext cx="9875520" cy="11430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3400" b="1">
                <a:solidFill>
                  <a:srgbClr val="F4F8FB"/>
                </a:solidFill>
                <a:latin typeface="Aptos"/>
                <a:ea typeface="Microsoft YaHei"/>
              </a:rPr>
              <a:t>基于进化算法的</a:t>
            </a:r>
            <a:endParaRPr lang="zh-CN" sz="3400"/>
          </a:p>
          <a:p>
            <a:pPr algn="l"/>
            <a:r>
              <a:rPr lang="zh-CN" sz="3400" b="1">
                <a:solidFill>
                  <a:srgbClr val="F4F8FB"/>
                </a:solidFill>
                <a:latin typeface="Aptos"/>
                <a:ea typeface="Microsoft YaHei"/>
              </a:rPr>
              <a:t>Triton 自动优化系统</a:t>
            </a:r>
            <a:endParaRPr lang="zh-CN" sz="3400"/>
          </a:p>
        </p:txBody>
      </p:sp>
      <p:sp>
        <p:nvSpPr>
          <p:cNvPr id="5" name="Shape 5"/>
          <p:cNvSpPr/>
          <p:nvPr/>
        </p:nvSpPr>
        <p:spPr>
          <a:xfrm>
            <a:off x="987552" y="26060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900" b="1">
                <a:solidFill>
                  <a:srgbClr val="36C5C7"/>
                </a:solidFill>
                <a:latin typeface="Aptos"/>
                <a:ea typeface="Microsoft YaHei"/>
              </a:rPr>
              <a:t>面向昇腾 NPU 的自动算子优化方案</a:t>
            </a:r>
            <a:endParaRPr lang="zh-CN" sz="1900"/>
          </a:p>
        </p:txBody>
      </p:sp>
      <p:sp>
        <p:nvSpPr>
          <p:cNvPr id="6" name="Shape 6"/>
          <p:cNvSpPr/>
          <p:nvPr/>
        </p:nvSpPr>
        <p:spPr>
          <a:xfrm>
            <a:off x="987552" y="3291840"/>
            <a:ext cx="5852160" cy="7315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600">
                <a:solidFill>
                  <a:srgbClr val="B7C9D8"/>
                </a:solidFill>
                <a:latin typeface="Aptos"/>
                <a:ea typeface="Microsoft YaHei"/>
              </a:rPr>
              <a:t>让大模型负责提出优化候选，让确定性评测决定候选去留。</a:t>
            </a:r>
            <a:endParaRPr lang="zh-CN" sz="1600"/>
          </a:p>
        </p:txBody>
      </p:sp>
      <p:sp>
        <p:nvSpPr>
          <p:cNvPr id="7" name="Shape 7"/>
          <p:cNvSpPr/>
          <p:nvPr/>
        </p:nvSpPr>
        <p:spPr>
          <a:xfrm>
            <a:off x="7818120" y="1325880"/>
            <a:ext cx="3383280" cy="3520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8229600" y="1828800"/>
            <a:ext cx="2560320" cy="512064"/>
          </a:xfrm>
          <a:prstGeom prst="round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9" name="Shape 9"/>
          <p:cNvSpPr/>
          <p:nvPr/>
        </p:nvSpPr>
        <p:spPr>
          <a:xfrm>
            <a:off x="8302752" y="1938528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300" b="1">
                <a:solidFill>
                  <a:srgbClr val="091521"/>
                </a:solidFill>
                <a:latin typeface="Aptos"/>
                <a:ea typeface="Microsoft YaHei"/>
              </a:rPr>
              <a:t>LLM</a:t>
            </a:r>
            <a:endParaRPr lang="zh-CN" sz="1300"/>
          </a:p>
        </p:txBody>
      </p:sp>
      <p:sp>
        <p:nvSpPr>
          <p:cNvPr id="10" name="Shape 10"/>
          <p:cNvSpPr/>
          <p:nvPr/>
        </p:nvSpPr>
        <p:spPr>
          <a:xfrm>
            <a:off x="9144000" y="239572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6D8AA0"/>
                </a:solidFill>
                <a:latin typeface="Aptos"/>
                <a:ea typeface="Microsoft YaHei"/>
              </a:rPr>
              <a:t>↓</a:t>
            </a:r>
            <a:endParaRPr lang="zh-CN" sz="1700"/>
          </a:p>
        </p:txBody>
      </p:sp>
      <p:sp>
        <p:nvSpPr>
          <p:cNvPr id="11" name="Shape 11"/>
          <p:cNvSpPr/>
          <p:nvPr/>
        </p:nvSpPr>
        <p:spPr>
          <a:xfrm>
            <a:off x="8229600" y="2697480"/>
            <a:ext cx="2560320" cy="512064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8302752" y="2807208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300" b="1">
                <a:solidFill>
                  <a:srgbClr val="091521"/>
                </a:solidFill>
                <a:latin typeface="Aptos"/>
                <a:ea typeface="Microsoft YaHei"/>
              </a:rPr>
              <a:t>EVOLUTION</a:t>
            </a:r>
            <a:endParaRPr lang="zh-CN" sz="1300"/>
          </a:p>
        </p:txBody>
      </p:sp>
      <p:sp>
        <p:nvSpPr>
          <p:cNvPr id="13" name="Shape 13"/>
          <p:cNvSpPr/>
          <p:nvPr/>
        </p:nvSpPr>
        <p:spPr>
          <a:xfrm>
            <a:off x="9144000" y="3264408"/>
            <a:ext cx="73152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6D8AA0"/>
                </a:solidFill>
                <a:latin typeface="Aptos"/>
                <a:ea typeface="Microsoft YaHei"/>
              </a:rPr>
              <a:t>↓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8229600" y="3566160"/>
            <a:ext cx="2560320" cy="512064"/>
          </a:xfrm>
          <a:prstGeom prst="roundRect">
            <a:avLst/>
          </a:prstGeom>
          <a:solidFill>
            <a:srgbClr val="8BD3DD"/>
          </a:solidFill>
          <a:ln>
            <a:noFill/>
          </a:ln>
        </p:spPr>
        <p:txBody>
          <a:bodyPr/>
          <a:lstStyle/>
        </p:txBody>
      </p:sp>
      <p:sp>
        <p:nvSpPr>
          <p:cNvPr id="15" name="Shape 15"/>
          <p:cNvSpPr/>
          <p:nvPr/>
        </p:nvSpPr>
        <p:spPr>
          <a:xfrm>
            <a:off x="8302752" y="3675887"/>
            <a:ext cx="2414016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300" b="1">
                <a:solidFill>
                  <a:srgbClr val="091521"/>
                </a:solidFill>
                <a:latin typeface="Aptos"/>
                <a:ea typeface="Microsoft YaHei"/>
              </a:rPr>
              <a:t>REAL EVAL</a:t>
            </a:r>
            <a:endParaRPr lang="zh-CN" sz="1300"/>
          </a:p>
        </p:txBody>
      </p:sp>
      <p:sp>
        <p:nvSpPr>
          <p:cNvPr id="16" name="Shape 16"/>
          <p:cNvSpPr/>
          <p:nvPr/>
        </p:nvSpPr>
        <p:spPr>
          <a:xfrm>
            <a:off x="987552" y="59893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000">
                <a:solidFill>
                  <a:srgbClr val="6D8AA0"/>
                </a:solidFill>
                <a:latin typeface="Aptos"/>
                <a:ea typeface="Microsoft YaHei"/>
              </a:rPr>
              <a:t>团队：XXX  |  学校：XXX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Triton 优化为什么需要自动搜索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02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22960" y="1783080"/>
            <a:ext cx="3246120" cy="19202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822960" y="1783080"/>
            <a:ext cx="54864" cy="1920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</p:txBody>
      </p:sp>
      <p:sp>
        <p:nvSpPr>
          <p:cNvPr id="9" name="Shape 9"/>
          <p:cNvSpPr/>
          <p:nvPr/>
        </p:nvSpPr>
        <p:spPr>
          <a:xfrm>
            <a:off x="1005840" y="1947672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性能依赖条件</a:t>
            </a:r>
            <a:endParaRPr lang="zh-CN" sz="1500"/>
          </a:p>
        </p:txBody>
      </p:sp>
      <p:sp>
        <p:nvSpPr>
          <p:cNvPr id="10" name="Shape 10"/>
          <p:cNvSpPr/>
          <p:nvPr/>
        </p:nvSpPr>
        <p:spPr>
          <a:xfrm>
            <a:off x="1005840" y="2350008"/>
            <a:ext cx="2935224" cy="12070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数据形状与 dtype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访存、归约与布局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Block Size 与 Warp 配置</a:t>
            </a:r>
            <a:endParaRPr lang="zh-CN" sz="1300"/>
          </a:p>
        </p:txBody>
      </p:sp>
      <p:sp>
        <p:nvSpPr>
          <p:cNvPr id="11" name="Shape 11"/>
          <p:cNvSpPr/>
          <p:nvPr/>
        </p:nvSpPr>
        <p:spPr>
          <a:xfrm>
            <a:off x="4434840" y="1783080"/>
            <a:ext cx="3246120" cy="19202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4434840" y="1783080"/>
            <a:ext cx="54864" cy="1920240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13" name="Shape 13"/>
          <p:cNvSpPr/>
          <p:nvPr/>
        </p:nvSpPr>
        <p:spPr>
          <a:xfrm>
            <a:off x="4617720" y="1947672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人工调优瓶颈</a:t>
            </a:r>
            <a:endParaRPr lang="zh-CN" sz="1500"/>
          </a:p>
        </p:txBody>
      </p:sp>
      <p:sp>
        <p:nvSpPr>
          <p:cNvPr id="14" name="Shape 14"/>
          <p:cNvSpPr/>
          <p:nvPr/>
        </p:nvSpPr>
        <p:spPr>
          <a:xfrm>
            <a:off x="4617720" y="2350008"/>
            <a:ext cx="2935224" cy="12070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依赖专家经验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搜索空间难覆盖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试错成本随算子数量增长</a:t>
            </a:r>
            <a:endParaRPr lang="zh-CN" sz="1300"/>
          </a:p>
        </p:txBody>
      </p:sp>
      <p:sp>
        <p:nvSpPr>
          <p:cNvPr id="15" name="Shape 15"/>
          <p:cNvSpPr/>
          <p:nvPr/>
        </p:nvSpPr>
        <p:spPr>
          <a:xfrm>
            <a:off x="8046720" y="1783080"/>
            <a:ext cx="3246120" cy="19202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8046720" y="1783080"/>
            <a:ext cx="54864" cy="1920240"/>
          </a:xfrm>
          <a:prstGeom prst="rect">
            <a:avLst/>
          </a:prstGeom>
          <a:solidFill>
            <a:srgbClr val="D96C75"/>
          </a:solidFill>
          <a:ln>
            <a:noFill/>
          </a:ln>
        </p:spPr>
        <p:txBody>
          <a:bodyPr/>
          <a:lstStyle/>
        </p:txBody>
      </p:sp>
      <p:sp>
        <p:nvSpPr>
          <p:cNvPr id="17" name="Shape 17"/>
          <p:cNvSpPr/>
          <p:nvPr/>
        </p:nvSpPr>
        <p:spPr>
          <a:xfrm>
            <a:off x="8229600" y="1947672"/>
            <a:ext cx="293522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直接生成风险</a:t>
            </a:r>
            <a:endParaRPr lang="zh-CN" sz="1500"/>
          </a:p>
        </p:txBody>
      </p:sp>
      <p:sp>
        <p:nvSpPr>
          <p:cNvPr id="18" name="Shape 18"/>
          <p:cNvSpPr/>
          <p:nvPr/>
        </p:nvSpPr>
        <p:spPr>
          <a:xfrm>
            <a:off x="8229600" y="2350008"/>
            <a:ext cx="2935224" cy="12070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无法编译或改变语义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公开样例过拟合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失败候选重复出现</a:t>
            </a:r>
            <a:endParaRPr lang="zh-CN" sz="1300"/>
          </a:p>
        </p:txBody>
      </p:sp>
      <p:sp>
        <p:nvSpPr>
          <p:cNvPr id="19" name="Shape 19"/>
          <p:cNvSpPr/>
          <p:nvPr/>
        </p:nvSpPr>
        <p:spPr>
          <a:xfrm>
            <a:off x="822960" y="4251960"/>
            <a:ext cx="10469880" cy="1143000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1078992" y="4526280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F4F8FB"/>
                </a:solidFill>
                <a:latin typeface="Aptos"/>
                <a:ea typeface="Microsoft YaHei"/>
              </a:rPr>
              <a:t>核心问题：如何在固定时间、固定 Token 和真实硬件评测预算下，自动搜索出更多正确、有效且具有性能潜力的版本？</a:t>
            </a:r>
            <a:endParaRPr lang="zh-CN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比赛约束决定了系统的设计目标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03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22960" y="1737360"/>
            <a:ext cx="2468880" cy="150876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822960" y="1737360"/>
            <a:ext cx="54864" cy="15087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</p:txBody>
      </p:sp>
      <p:sp>
        <p:nvSpPr>
          <p:cNvPr id="9" name="Shape 9"/>
          <p:cNvSpPr/>
          <p:nvPr/>
        </p:nvSpPr>
        <p:spPr>
          <a:xfrm>
            <a:off x="1005840" y="1901952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20 分钟</a:t>
            </a:r>
            <a:endParaRPr lang="zh-CN" sz="1500"/>
          </a:p>
        </p:txBody>
      </p:sp>
      <p:sp>
        <p:nvSpPr>
          <p:cNvPr id="10" name="Shape 10"/>
          <p:cNvSpPr/>
          <p:nvPr/>
        </p:nvSpPr>
        <p:spPr>
          <a:xfrm>
            <a:off x="1005840" y="2304288"/>
            <a:ext cx="2157984" cy="795527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400">
                <a:solidFill>
                  <a:srgbClr val="B7C9D8"/>
                </a:solidFill>
                <a:latin typeface="Aptos"/>
                <a:ea typeface="Microsoft YaHei"/>
              </a:rPr>
              <a:t>单个算子最长运行时间</a:t>
            </a:r>
            <a:endParaRPr lang="zh-CN" sz="1400"/>
          </a:p>
        </p:txBody>
      </p:sp>
      <p:sp>
        <p:nvSpPr>
          <p:cNvPr id="11" name="Shape 11"/>
          <p:cNvSpPr/>
          <p:nvPr/>
        </p:nvSpPr>
        <p:spPr>
          <a:xfrm>
            <a:off x="3520440" y="1737360"/>
            <a:ext cx="2468880" cy="150876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3520440" y="1737360"/>
            <a:ext cx="54864" cy="1508760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13" name="Shape 13"/>
          <p:cNvSpPr/>
          <p:nvPr/>
        </p:nvSpPr>
        <p:spPr>
          <a:xfrm>
            <a:off x="3703320" y="1901952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20 万 Token</a:t>
            </a:r>
            <a:endParaRPr lang="zh-CN" sz="1500"/>
          </a:p>
        </p:txBody>
      </p:sp>
      <p:sp>
        <p:nvSpPr>
          <p:cNvPr id="14" name="Shape 14"/>
          <p:cNvSpPr/>
          <p:nvPr/>
        </p:nvSpPr>
        <p:spPr>
          <a:xfrm>
            <a:off x="3703320" y="2304288"/>
            <a:ext cx="2157984" cy="795527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400">
                <a:solidFill>
                  <a:srgbClr val="B7C9D8"/>
                </a:solidFill>
                <a:latin typeface="Aptos"/>
                <a:ea typeface="Microsoft YaHei"/>
              </a:rPr>
              <a:t>单个算子模型预算上限</a:t>
            </a:r>
            <a:endParaRPr lang="zh-CN" sz="1400"/>
          </a:p>
        </p:txBody>
      </p:sp>
      <p:sp>
        <p:nvSpPr>
          <p:cNvPr id="15" name="Shape 15"/>
          <p:cNvSpPr/>
          <p:nvPr/>
        </p:nvSpPr>
        <p:spPr>
          <a:xfrm>
            <a:off x="6217920" y="1737360"/>
            <a:ext cx="2468880" cy="150876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6217920" y="1737360"/>
            <a:ext cx="54864" cy="1508760"/>
          </a:xfrm>
          <a:prstGeom prst="rect">
            <a:avLst/>
          </a:prstGeom>
          <a:solidFill>
            <a:srgbClr val="8BD3DD"/>
          </a:solidFill>
          <a:ln>
            <a:noFill/>
          </a:ln>
        </p:spPr>
        <p:txBody>
          <a:bodyPr/>
          <a:lstStyle/>
        </p:txBody>
      </p:sp>
      <p:sp>
        <p:nvSpPr>
          <p:cNvPr id="17" name="Shape 17"/>
          <p:cNvSpPr/>
          <p:nvPr/>
        </p:nvSpPr>
        <p:spPr>
          <a:xfrm>
            <a:off x="6400800" y="1901952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Top-5</a:t>
            </a:r>
            <a:endParaRPr lang="zh-CN" sz="1500"/>
          </a:p>
        </p:txBody>
      </p:sp>
      <p:sp>
        <p:nvSpPr>
          <p:cNvPr id="18" name="Shape 18"/>
          <p:cNvSpPr/>
          <p:nvPr/>
        </p:nvSpPr>
        <p:spPr>
          <a:xfrm>
            <a:off x="6400800" y="2304288"/>
            <a:ext cx="2157984" cy="795527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400">
                <a:solidFill>
                  <a:srgbClr val="B7C9D8"/>
                </a:solidFill>
                <a:latin typeface="Aptos"/>
                <a:ea typeface="Microsoft YaHei"/>
              </a:rPr>
              <a:t>统一接口最多返回 5 个版本</a:t>
            </a:r>
            <a:endParaRPr lang="zh-CN" sz="1400"/>
          </a:p>
        </p:txBody>
      </p:sp>
      <p:sp>
        <p:nvSpPr>
          <p:cNvPr id="19" name="Shape 19"/>
          <p:cNvSpPr/>
          <p:nvPr/>
        </p:nvSpPr>
        <p:spPr>
          <a:xfrm>
            <a:off x="8915400" y="1737360"/>
            <a:ext cx="2468880" cy="150876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8915400" y="1737360"/>
            <a:ext cx="54864" cy="1508760"/>
          </a:xfrm>
          <a:prstGeom prst="rect">
            <a:avLst/>
          </a:prstGeom>
          <a:solidFill>
            <a:srgbClr val="D96C75"/>
          </a:solidFill>
          <a:ln>
            <a:noFill/>
          </a:ln>
        </p:spPr>
        <p:txBody>
          <a:bodyPr/>
          <a:lstStyle/>
        </p:txBody>
      </p:sp>
      <p:sp>
        <p:nvSpPr>
          <p:cNvPr id="21" name="Shape 21"/>
          <p:cNvSpPr/>
          <p:nvPr/>
        </p:nvSpPr>
        <p:spPr>
          <a:xfrm>
            <a:off x="9098280" y="1901952"/>
            <a:ext cx="215798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正确性硬门槛</a:t>
            </a:r>
            <a:endParaRPr lang="zh-CN" sz="1500"/>
          </a:p>
        </p:txBody>
      </p:sp>
      <p:sp>
        <p:nvSpPr>
          <p:cNvPr id="22" name="Shape 22"/>
          <p:cNvSpPr/>
          <p:nvPr/>
        </p:nvSpPr>
        <p:spPr>
          <a:xfrm>
            <a:off x="9098280" y="2304288"/>
            <a:ext cx="2157984" cy="795527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400">
                <a:solidFill>
                  <a:srgbClr val="B7C9D8"/>
                </a:solidFill>
                <a:latin typeface="Aptos"/>
                <a:ea typeface="Microsoft YaHei"/>
              </a:rPr>
              <a:t>功能通过后才进入性能评测</a:t>
            </a:r>
            <a:endParaRPr lang="zh-CN" sz="1400"/>
          </a:p>
        </p:txBody>
      </p:sp>
      <p:sp>
        <p:nvSpPr>
          <p:cNvPr id="23" name="Shape 23"/>
          <p:cNvSpPr/>
          <p:nvPr/>
        </p:nvSpPr>
        <p:spPr>
          <a:xfrm>
            <a:off x="822960" y="3794760"/>
            <a:ext cx="10561320" cy="1417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24" name="Shape 24"/>
          <p:cNvSpPr/>
          <p:nvPr/>
        </p:nvSpPr>
        <p:spPr>
          <a:xfrm>
            <a:off x="1143000" y="4096512"/>
            <a:ext cx="9921240" cy="7772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F8FB"/>
                </a:solidFill>
                <a:latin typeface="Aptos"/>
                <a:ea typeface="Microsoft YaHei"/>
              </a:rPr>
              <a:t>系统不是生成更多代码</a:t>
            </a:r>
            <a:endParaRPr lang="zh-CN" sz="2200"/>
          </a:p>
          <a:p>
            <a:pPr algn="c"/>
            <a:r>
              <a:rPr lang="zh-CN" sz="1500" b="1">
                <a:solidFill>
                  <a:srgbClr val="36C5C7"/>
                </a:solidFill>
                <a:latin typeface="Aptos"/>
                <a:ea typeface="Microsoft YaHei"/>
              </a:rPr>
              <a:t>而是在有限预算内，提高有效候选比例，持续提升 Top-5 中最佳有效结果。</a:t>
            </a:r>
            <a:endParaRPr lang="zh-CN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总体方案：LLM 生成候选，进化算法管理搜索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04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68680" y="2148840"/>
            <a:ext cx="2148840" cy="1417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1051560" y="23591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200" b="1">
                <a:solidFill>
                  <a:srgbClr val="36C5C7"/>
                </a:solidFill>
                <a:latin typeface="Aptos"/>
                <a:ea typeface="Microsoft YaHei"/>
              </a:rPr>
              <a:t>01</a:t>
            </a:r>
            <a:endParaRPr lang="zh-CN" sz="1200"/>
          </a:p>
        </p:txBody>
      </p:sp>
      <p:sp>
        <p:nvSpPr>
          <p:cNvPr id="9" name="Shape 9"/>
          <p:cNvSpPr/>
          <p:nvPr/>
        </p:nvSpPr>
        <p:spPr>
          <a:xfrm>
            <a:off x="1051560" y="27614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基线算子</a:t>
            </a:r>
            <a:endParaRPr lang="zh-CN" sz="1600"/>
          </a:p>
        </p:txBody>
      </p:sp>
      <p:sp>
        <p:nvSpPr>
          <p:cNvPr id="10" name="Shape 10"/>
          <p:cNvSpPr/>
          <p:nvPr/>
        </p:nvSpPr>
        <p:spPr>
          <a:xfrm>
            <a:off x="1051560" y="31089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100">
                <a:solidFill>
                  <a:srgbClr val="B7C9D8"/>
                </a:solidFill>
                <a:latin typeface="Aptos"/>
                <a:ea typeface="Microsoft YaHei"/>
              </a:rPr>
              <a:t>读取 Triton 代码与约束</a:t>
            </a:r>
            <a:endParaRPr lang="zh-CN" sz="1100"/>
          </a:p>
        </p:txBody>
      </p:sp>
      <p:sp>
        <p:nvSpPr>
          <p:cNvPr id="11" name="Shape 11"/>
          <p:cNvSpPr/>
          <p:nvPr/>
        </p:nvSpPr>
        <p:spPr>
          <a:xfrm>
            <a:off x="3081528" y="26700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12" name="Shape 12"/>
          <p:cNvSpPr/>
          <p:nvPr/>
        </p:nvSpPr>
        <p:spPr>
          <a:xfrm>
            <a:off x="3657600" y="2148840"/>
            <a:ext cx="2148840" cy="1417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3" name="Shape 13"/>
          <p:cNvSpPr/>
          <p:nvPr/>
        </p:nvSpPr>
        <p:spPr>
          <a:xfrm>
            <a:off x="3840480" y="23591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200" b="1">
                <a:solidFill>
                  <a:srgbClr val="36C5C7"/>
                </a:solidFill>
                <a:latin typeface="Aptos"/>
                <a:ea typeface="Microsoft YaHei"/>
              </a:rPr>
              <a:t>02</a:t>
            </a:r>
            <a:endParaRPr lang="zh-CN" sz="1200"/>
          </a:p>
        </p:txBody>
      </p:sp>
      <p:sp>
        <p:nvSpPr>
          <p:cNvPr id="14" name="Shape 14"/>
          <p:cNvSpPr/>
          <p:nvPr/>
        </p:nvSpPr>
        <p:spPr>
          <a:xfrm>
            <a:off x="3840480" y="27614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候选生成</a:t>
            </a:r>
            <a:endParaRPr lang="zh-CN" sz="1600"/>
          </a:p>
        </p:txBody>
      </p:sp>
      <p:sp>
        <p:nvSpPr>
          <p:cNvPr id="15" name="Shape 15"/>
          <p:cNvSpPr/>
          <p:nvPr/>
        </p:nvSpPr>
        <p:spPr>
          <a:xfrm>
            <a:off x="3840480" y="31089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100">
                <a:solidFill>
                  <a:srgbClr val="B7C9D8"/>
                </a:solidFill>
                <a:latin typeface="Aptos"/>
                <a:ea typeface="Microsoft YaHei"/>
              </a:rPr>
              <a:t>mutation / crossover</a:t>
            </a:r>
            <a:endParaRPr lang="zh-CN" sz="1100"/>
          </a:p>
        </p:txBody>
      </p:sp>
      <p:sp>
        <p:nvSpPr>
          <p:cNvPr id="16" name="Shape 16"/>
          <p:cNvSpPr/>
          <p:nvPr/>
        </p:nvSpPr>
        <p:spPr>
          <a:xfrm>
            <a:off x="5870448" y="26700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17" name="Shape 17"/>
          <p:cNvSpPr/>
          <p:nvPr/>
        </p:nvSpPr>
        <p:spPr>
          <a:xfrm>
            <a:off x="6446520" y="2148840"/>
            <a:ext cx="2148840" cy="1417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8" name="Shape 18"/>
          <p:cNvSpPr/>
          <p:nvPr/>
        </p:nvSpPr>
        <p:spPr>
          <a:xfrm>
            <a:off x="6629400" y="23591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200" b="1">
                <a:solidFill>
                  <a:srgbClr val="36C5C7"/>
                </a:solidFill>
                <a:latin typeface="Aptos"/>
                <a:ea typeface="Microsoft YaHei"/>
              </a:rPr>
              <a:t>03</a:t>
            </a:r>
            <a:endParaRPr lang="zh-CN" sz="1200"/>
          </a:p>
        </p:txBody>
      </p:sp>
      <p:sp>
        <p:nvSpPr>
          <p:cNvPr id="19" name="Shape 19"/>
          <p:cNvSpPr/>
          <p:nvPr/>
        </p:nvSpPr>
        <p:spPr>
          <a:xfrm>
            <a:off x="6629400" y="27614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分层评测</a:t>
            </a:r>
            <a:endParaRPr lang="zh-CN" sz="1600"/>
          </a:p>
        </p:txBody>
      </p:sp>
      <p:sp>
        <p:nvSpPr>
          <p:cNvPr id="20" name="Shape 20"/>
          <p:cNvSpPr/>
          <p:nvPr/>
        </p:nvSpPr>
        <p:spPr>
          <a:xfrm>
            <a:off x="6629400" y="31089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100">
                <a:solidFill>
                  <a:srgbClr val="B7C9D8"/>
                </a:solidFill>
                <a:latin typeface="Aptos"/>
                <a:ea typeface="Microsoft YaHei"/>
              </a:rPr>
              <a:t>静态、正确性、性能</a:t>
            </a:r>
            <a:endParaRPr lang="zh-CN" sz="1100"/>
          </a:p>
        </p:txBody>
      </p:sp>
      <p:sp>
        <p:nvSpPr>
          <p:cNvPr id="21" name="Shape 21"/>
          <p:cNvSpPr/>
          <p:nvPr/>
        </p:nvSpPr>
        <p:spPr>
          <a:xfrm>
            <a:off x="8659367" y="26700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22" name="Shape 22"/>
          <p:cNvSpPr/>
          <p:nvPr/>
        </p:nvSpPr>
        <p:spPr>
          <a:xfrm>
            <a:off x="9235439" y="2148840"/>
            <a:ext cx="2148840" cy="1417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23" name="Shape 23"/>
          <p:cNvSpPr/>
          <p:nvPr/>
        </p:nvSpPr>
        <p:spPr>
          <a:xfrm>
            <a:off x="9418319" y="23591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200" b="1">
                <a:solidFill>
                  <a:srgbClr val="36C5C7"/>
                </a:solidFill>
                <a:latin typeface="Aptos"/>
                <a:ea typeface="Microsoft YaHei"/>
              </a:rPr>
              <a:t>04</a:t>
            </a:r>
            <a:endParaRPr lang="zh-CN" sz="1200"/>
          </a:p>
        </p:txBody>
      </p:sp>
      <p:sp>
        <p:nvSpPr>
          <p:cNvPr id="24" name="Shape 24"/>
          <p:cNvSpPr/>
          <p:nvPr/>
        </p:nvSpPr>
        <p:spPr>
          <a:xfrm>
            <a:off x="9418319" y="27614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候选选择</a:t>
            </a:r>
            <a:endParaRPr lang="zh-CN" sz="1600"/>
          </a:p>
        </p:txBody>
      </p:sp>
      <p:sp>
        <p:nvSpPr>
          <p:cNvPr id="25" name="Shape 25"/>
          <p:cNvSpPr/>
          <p:nvPr/>
        </p:nvSpPr>
        <p:spPr>
          <a:xfrm>
            <a:off x="9418319" y="3108960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100">
                <a:solidFill>
                  <a:srgbClr val="B7C9D8"/>
                </a:solidFill>
                <a:latin typeface="Aptos"/>
                <a:ea typeface="Microsoft YaHei"/>
              </a:rPr>
              <a:t>排序、去重、进入下一代</a:t>
            </a:r>
            <a:endParaRPr lang="zh-CN" sz="1100"/>
          </a:p>
        </p:txBody>
      </p:sp>
      <p:sp>
        <p:nvSpPr>
          <p:cNvPr id="26" name="Shape 26"/>
          <p:cNvSpPr/>
          <p:nvPr/>
        </p:nvSpPr>
        <p:spPr>
          <a:xfrm>
            <a:off x="960120" y="44348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F4F8FB"/>
                </a:solidFill>
                <a:latin typeface="Aptos"/>
                <a:ea typeface="Microsoft YaHei"/>
              </a:rPr>
              <a:t>大模型只负责提出候选；静态检查、真实测试和 profiler 共同决定候选去留。</a:t>
            </a:r>
            <a:endParaRPr lang="zh-CN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核心创新：从代码生成到证据驱动的自动优化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05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68680" y="1828800"/>
            <a:ext cx="2286000" cy="2560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1097280" y="2121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36C5C7"/>
                </a:solidFill>
                <a:latin typeface="Aptos"/>
                <a:ea typeface="Microsoft YaHei"/>
              </a:rPr>
              <a:t>LLM</a:t>
            </a:r>
            <a:endParaRPr lang="zh-CN" sz="2400"/>
          </a:p>
        </p:txBody>
      </p:sp>
      <p:sp>
        <p:nvSpPr>
          <p:cNvPr id="9" name="Shape 9"/>
          <p:cNvSpPr/>
          <p:nvPr/>
        </p:nvSpPr>
        <p:spPr>
          <a:xfrm>
            <a:off x="1097280" y="2743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提出结构化
优化候选</a:t>
            </a:r>
            <a:endParaRPr lang="zh-CN" sz="1700"/>
          </a:p>
        </p:txBody>
      </p:sp>
      <p:sp>
        <p:nvSpPr>
          <p:cNvPr id="10" name="Shape 10"/>
          <p:cNvSpPr/>
          <p:nvPr/>
        </p:nvSpPr>
        <p:spPr>
          <a:xfrm>
            <a:off x="3364992" y="27432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800" b="1">
                <a:solidFill>
                  <a:srgbClr val="F4A261"/>
                </a:solidFill>
                <a:latin typeface="Aptos"/>
                <a:ea typeface="Microsoft YaHei"/>
              </a:rPr>
              <a:t>+</a:t>
            </a:r>
            <a:endParaRPr lang="zh-CN" sz="2800"/>
          </a:p>
        </p:txBody>
      </p:sp>
      <p:sp>
        <p:nvSpPr>
          <p:cNvPr id="11" name="Shape 11"/>
          <p:cNvSpPr/>
          <p:nvPr/>
        </p:nvSpPr>
        <p:spPr>
          <a:xfrm>
            <a:off x="4160520" y="1828800"/>
            <a:ext cx="2286000" cy="2560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4389120" y="21214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EA</a:t>
            </a:r>
            <a:endParaRPr lang="zh-CN" sz="2400"/>
          </a:p>
        </p:txBody>
      </p:sp>
      <p:sp>
        <p:nvSpPr>
          <p:cNvPr id="13" name="Shape 13"/>
          <p:cNvSpPr/>
          <p:nvPr/>
        </p:nvSpPr>
        <p:spPr>
          <a:xfrm>
            <a:off x="4389120" y="2743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组织候选
持续进化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6656832" y="27432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800" b="1">
                <a:solidFill>
                  <a:srgbClr val="F4A261"/>
                </a:solidFill>
                <a:latin typeface="Aptos"/>
                <a:ea typeface="Microsoft YaHei"/>
              </a:rPr>
              <a:t>+</a:t>
            </a:r>
            <a:endParaRPr lang="zh-CN" sz="2800"/>
          </a:p>
        </p:txBody>
      </p:sp>
      <p:sp>
        <p:nvSpPr>
          <p:cNvPr id="15" name="Shape 15"/>
          <p:cNvSpPr/>
          <p:nvPr/>
        </p:nvSpPr>
        <p:spPr>
          <a:xfrm>
            <a:off x="7452360" y="1828800"/>
            <a:ext cx="3383280" cy="25603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7726679" y="2121408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100" b="1">
                <a:solidFill>
                  <a:srgbClr val="8BD3DD"/>
                </a:solidFill>
                <a:latin typeface="Aptos"/>
                <a:ea typeface="Microsoft YaHei"/>
              </a:rPr>
              <a:t>EVIDENCE</a:t>
            </a:r>
            <a:endParaRPr lang="zh-CN" sz="2100"/>
          </a:p>
        </p:txBody>
      </p:sp>
      <p:sp>
        <p:nvSpPr>
          <p:cNvPr id="17" name="Shape 17"/>
          <p:cNvSpPr/>
          <p:nvPr/>
        </p:nvSpPr>
        <p:spPr>
          <a:xfrm>
            <a:off x="7726679" y="2743200"/>
            <a:ext cx="2834640" cy="7315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失败反馈 +
真实硬件验证</a:t>
            </a:r>
            <a:endParaRPr lang="zh-CN" sz="1700"/>
          </a:p>
        </p:txBody>
      </p:sp>
      <p:sp>
        <p:nvSpPr>
          <p:cNvPr id="18" name="Shape 18"/>
          <p:cNvSpPr/>
          <p:nvPr/>
        </p:nvSpPr>
        <p:spPr>
          <a:xfrm>
            <a:off x="914400" y="50749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36C5C7"/>
                </a:solidFill>
                <a:latin typeface="Aptos"/>
                <a:ea typeface="Microsoft YaHei"/>
              </a:rPr>
              <a:t>四项创新：职责分工 · 失败知识 · 统一预算 · 全链路证据</a:t>
            </a:r>
            <a:endParaRPr lang="zh-CN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创新一：让大模型负责探索，让评测负责裁决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06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68680" y="1783080"/>
            <a:ext cx="2331720" cy="26060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868680" y="1783080"/>
            <a:ext cx="54864" cy="2606040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9" name="Shape 9"/>
          <p:cNvSpPr/>
          <p:nvPr/>
        </p:nvSpPr>
        <p:spPr>
          <a:xfrm>
            <a:off x="1051560" y="1947672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LLM</a:t>
            </a:r>
            <a:endParaRPr lang="zh-CN" sz="1500"/>
          </a:p>
        </p:txBody>
      </p:sp>
      <p:sp>
        <p:nvSpPr>
          <p:cNvPr id="10" name="Shape 10"/>
          <p:cNvSpPr/>
          <p:nvPr/>
        </p:nvSpPr>
        <p:spPr>
          <a:xfrm>
            <a:off x="1051560" y="2350008"/>
            <a:ext cx="2020824" cy="18928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>
                <a:solidFill>
                  <a:srgbClr val="B7C9D8"/>
                </a:solidFill>
                <a:latin typeface="Aptos"/>
                <a:ea typeface="Microsoft YaHei"/>
              </a:rPr>
              <a:t>理解算子
提出候选
生成 mutation / crossover</a:t>
            </a:r>
            <a:endParaRPr lang="zh-CN" sz="1500"/>
          </a:p>
        </p:txBody>
      </p:sp>
      <p:sp>
        <p:nvSpPr>
          <p:cNvPr id="11" name="Shape 11"/>
          <p:cNvSpPr/>
          <p:nvPr/>
        </p:nvSpPr>
        <p:spPr>
          <a:xfrm>
            <a:off x="3337560" y="278892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12" name="Shape 12"/>
          <p:cNvSpPr/>
          <p:nvPr/>
        </p:nvSpPr>
        <p:spPr>
          <a:xfrm>
            <a:off x="3977639" y="1783080"/>
            <a:ext cx="2331720" cy="26060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3" name="Shape 13"/>
          <p:cNvSpPr/>
          <p:nvPr/>
        </p:nvSpPr>
        <p:spPr>
          <a:xfrm>
            <a:off x="3977639" y="1783080"/>
            <a:ext cx="54864" cy="2606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</p:txBody>
      </p:sp>
      <p:sp>
        <p:nvSpPr>
          <p:cNvPr id="14" name="Shape 14"/>
          <p:cNvSpPr/>
          <p:nvPr/>
        </p:nvSpPr>
        <p:spPr>
          <a:xfrm>
            <a:off x="4160520" y="1947672"/>
            <a:ext cx="202082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进化算法</a:t>
            </a:r>
            <a:endParaRPr lang="zh-CN" sz="1500"/>
          </a:p>
        </p:txBody>
      </p:sp>
      <p:sp>
        <p:nvSpPr>
          <p:cNvPr id="15" name="Shape 15"/>
          <p:cNvSpPr/>
          <p:nvPr/>
        </p:nvSpPr>
        <p:spPr>
          <a:xfrm>
            <a:off x="4160520" y="2350008"/>
            <a:ext cx="2020824" cy="18928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>
                <a:solidFill>
                  <a:srgbClr val="B7C9D8"/>
                </a:solidFill>
                <a:latin typeface="Aptos"/>
                <a:ea typeface="Microsoft YaHei"/>
              </a:rPr>
              <a:t>管理种群
选择父代
调度下一代搜索</a:t>
            </a:r>
            <a:endParaRPr lang="zh-CN" sz="1500"/>
          </a:p>
        </p:txBody>
      </p:sp>
      <p:sp>
        <p:nvSpPr>
          <p:cNvPr id="16" name="Shape 16"/>
          <p:cNvSpPr/>
          <p:nvPr/>
        </p:nvSpPr>
        <p:spPr>
          <a:xfrm>
            <a:off x="6446520" y="278892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17" name="Shape 17"/>
          <p:cNvSpPr/>
          <p:nvPr/>
        </p:nvSpPr>
        <p:spPr>
          <a:xfrm>
            <a:off x="7086600" y="1783080"/>
            <a:ext cx="3794760" cy="26060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8" name="Shape 18"/>
          <p:cNvSpPr/>
          <p:nvPr/>
        </p:nvSpPr>
        <p:spPr>
          <a:xfrm>
            <a:off x="7086600" y="1783080"/>
            <a:ext cx="54864" cy="2606040"/>
          </a:xfrm>
          <a:prstGeom prst="rect">
            <a:avLst/>
          </a:prstGeom>
          <a:solidFill>
            <a:srgbClr val="8BD3DD"/>
          </a:solidFill>
          <a:ln>
            <a:noFill/>
          </a:ln>
        </p:spPr>
        <p:txBody>
          <a:bodyPr/>
          <a:lstStyle/>
        </p:txBody>
      </p:sp>
      <p:sp>
        <p:nvSpPr>
          <p:cNvPr id="19" name="Shape 19"/>
          <p:cNvSpPr/>
          <p:nvPr/>
        </p:nvSpPr>
        <p:spPr>
          <a:xfrm>
            <a:off x="7269480" y="1947672"/>
            <a:ext cx="348386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确定性评测</a:t>
            </a:r>
            <a:endParaRPr lang="zh-CN" sz="1500"/>
          </a:p>
        </p:txBody>
      </p:sp>
      <p:sp>
        <p:nvSpPr>
          <p:cNvPr id="20" name="Shape 20"/>
          <p:cNvSpPr/>
          <p:nvPr/>
        </p:nvSpPr>
        <p:spPr>
          <a:xfrm>
            <a:off x="7269480" y="2350008"/>
            <a:ext cx="3483864" cy="18928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>
                <a:solidFill>
                  <a:srgbClr val="B7C9D8"/>
                </a:solidFill>
                <a:latin typeface="Aptos"/>
                <a:ea typeface="Microsoft YaHei"/>
              </a:rPr>
              <a:t>静态检查：过滤明显无效代码
正确性测试：验证计算语义
真实硬件：判断性能收益</a:t>
            </a:r>
            <a:endParaRPr lang="zh-CN" sz="1500"/>
          </a:p>
        </p:txBody>
      </p:sp>
      <p:sp>
        <p:nvSpPr>
          <p:cNvPr id="21" name="Shape 21"/>
          <p:cNvSpPr/>
          <p:nvPr/>
        </p:nvSpPr>
        <p:spPr>
          <a:xfrm>
            <a:off x="868680" y="4892040"/>
            <a:ext cx="10012680" cy="658368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22" name="Shape 22"/>
          <p:cNvSpPr/>
          <p:nvPr/>
        </p:nvSpPr>
        <p:spPr>
          <a:xfrm>
            <a:off x="1051560" y="5074920"/>
            <a:ext cx="96469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模型的生成能力 + 编译器与硬件的验证能力 = 更可靠的自动优化</a:t>
            </a:r>
            <a:endParaRPr lang="zh-CN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创新二：失败结果也能推动下一代搜索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07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68680" y="1874519"/>
            <a:ext cx="2834640" cy="246888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D96C75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1143000" y="217627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D96C75"/>
                </a:solidFill>
                <a:latin typeface="Aptos"/>
                <a:ea typeface="Microsoft YaHei"/>
              </a:rPr>
              <a:t>失败候选</a:t>
            </a:r>
            <a:endParaRPr lang="zh-CN" sz="1800"/>
          </a:p>
        </p:txBody>
      </p:sp>
      <p:sp>
        <p:nvSpPr>
          <p:cNvPr id="9" name="Shape 9"/>
          <p:cNvSpPr/>
          <p:nvPr/>
        </p:nvSpPr>
        <p:spPr>
          <a:xfrm>
            <a:off x="1143000" y="2743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编译失败
正确性失败
性能回退</a:t>
            </a:r>
            <a:endParaRPr lang="zh-CN" sz="1700"/>
          </a:p>
        </p:txBody>
      </p:sp>
      <p:sp>
        <p:nvSpPr>
          <p:cNvPr id="10" name="Shape 10"/>
          <p:cNvSpPr/>
          <p:nvPr/>
        </p:nvSpPr>
        <p:spPr>
          <a:xfrm>
            <a:off x="3794760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11" name="Shape 11"/>
          <p:cNvSpPr/>
          <p:nvPr/>
        </p:nvSpPr>
        <p:spPr>
          <a:xfrm>
            <a:off x="4434840" y="1874519"/>
            <a:ext cx="2834640" cy="246888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F4A261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4709160" y="217627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F4A261"/>
                </a:solidFill>
                <a:latin typeface="Aptos"/>
                <a:ea typeface="Microsoft YaHei"/>
              </a:rPr>
              <a:t>结构化历史</a:t>
            </a:r>
            <a:endParaRPr lang="zh-CN" sz="1800"/>
          </a:p>
        </p:txBody>
      </p:sp>
      <p:sp>
        <p:nvSpPr>
          <p:cNvPr id="13" name="Shape 13"/>
          <p:cNvSpPr/>
          <p:nvPr/>
        </p:nvSpPr>
        <p:spPr>
          <a:xfrm>
            <a:off x="4709160" y="2743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绑定算子、case、
代码版本与环境</a:t>
            </a:r>
            <a:endParaRPr lang="zh-CN" sz="1700"/>
          </a:p>
        </p:txBody>
      </p:sp>
      <p:sp>
        <p:nvSpPr>
          <p:cNvPr id="14" name="Shape 14"/>
          <p:cNvSpPr/>
          <p:nvPr/>
        </p:nvSpPr>
        <p:spPr>
          <a:xfrm>
            <a:off x="7360920" y="2743200"/>
            <a:ext cx="59436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4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400"/>
          </a:p>
        </p:txBody>
      </p:sp>
      <p:sp>
        <p:nvSpPr>
          <p:cNvPr id="15" name="Shape 15"/>
          <p:cNvSpPr/>
          <p:nvPr/>
        </p:nvSpPr>
        <p:spPr>
          <a:xfrm>
            <a:off x="8001000" y="1874519"/>
            <a:ext cx="2834640" cy="246888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8275320" y="217627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36C5C7"/>
                </a:solidFill>
                <a:latin typeface="Aptos"/>
                <a:ea typeface="Microsoft YaHei"/>
              </a:rPr>
              <a:t>搜索约束</a:t>
            </a:r>
            <a:endParaRPr lang="zh-CN" sz="1800"/>
          </a:p>
        </p:txBody>
      </p:sp>
      <p:sp>
        <p:nvSpPr>
          <p:cNvPr id="17" name="Shape 17"/>
          <p:cNvSpPr/>
          <p:nvPr/>
        </p:nvSpPr>
        <p:spPr>
          <a:xfrm>
            <a:off x="8275320" y="27432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减少重复试错
识别高风险变换</a:t>
            </a:r>
            <a:endParaRPr lang="zh-CN" sz="1700"/>
          </a:p>
        </p:txBody>
      </p:sp>
      <p:sp>
        <p:nvSpPr>
          <p:cNvPr id="18" name="Shape 18"/>
          <p:cNvSpPr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36C5C7"/>
                </a:solidFill>
                <a:latin typeface="Aptos"/>
                <a:ea typeface="Microsoft YaHei"/>
              </a:rPr>
              <a:t>不只学习“什么有效”，也学习“什么在什么条件下无效”。</a:t>
            </a:r>
            <a:endParaRPr lang="zh-CN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创新三：在有限预算内获得更多有效候选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08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68680" y="1828800"/>
            <a:ext cx="224028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1033271" y="20299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TOKEN</a:t>
            </a:r>
            <a:endParaRPr lang="zh-CN" sz="1000"/>
          </a:p>
        </p:txBody>
      </p:sp>
      <p:sp>
        <p:nvSpPr>
          <p:cNvPr id="9" name="Shape 9"/>
          <p:cNvSpPr/>
          <p:nvPr/>
        </p:nvSpPr>
        <p:spPr>
          <a:xfrm>
            <a:off x="1033271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F8FB"/>
                </a:solidFill>
                <a:latin typeface="Aptos"/>
                <a:ea typeface="Microsoft YaHei"/>
              </a:rPr>
              <a:t>20 万</a:t>
            </a:r>
            <a:endParaRPr lang="zh-CN" sz="2200"/>
          </a:p>
        </p:txBody>
      </p:sp>
      <p:sp>
        <p:nvSpPr>
          <p:cNvPr id="10" name="Shape 10"/>
          <p:cNvSpPr/>
          <p:nvPr/>
        </p:nvSpPr>
        <p:spPr>
          <a:xfrm>
            <a:off x="3611880" y="1828800"/>
            <a:ext cx="224028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1" name="Shape 11"/>
          <p:cNvSpPr/>
          <p:nvPr/>
        </p:nvSpPr>
        <p:spPr>
          <a:xfrm>
            <a:off x="3776472" y="20299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TIME</a:t>
            </a:r>
            <a:endParaRPr lang="zh-CN" sz="1000"/>
          </a:p>
        </p:txBody>
      </p:sp>
      <p:sp>
        <p:nvSpPr>
          <p:cNvPr id="12" name="Shape 12"/>
          <p:cNvSpPr/>
          <p:nvPr/>
        </p:nvSpPr>
        <p:spPr>
          <a:xfrm>
            <a:off x="3776472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F8FB"/>
                </a:solidFill>
                <a:latin typeface="Aptos"/>
                <a:ea typeface="Microsoft YaHei"/>
              </a:rPr>
              <a:t>20 分钟</a:t>
            </a:r>
            <a:endParaRPr lang="zh-CN" sz="2200"/>
          </a:p>
        </p:txBody>
      </p:sp>
      <p:sp>
        <p:nvSpPr>
          <p:cNvPr id="13" name="Shape 13"/>
          <p:cNvSpPr/>
          <p:nvPr/>
        </p:nvSpPr>
        <p:spPr>
          <a:xfrm>
            <a:off x="6355080" y="1828800"/>
            <a:ext cx="224028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4" name="Shape 14"/>
          <p:cNvSpPr/>
          <p:nvPr/>
        </p:nvSpPr>
        <p:spPr>
          <a:xfrm>
            <a:off x="6519672" y="20299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EVAL</a:t>
            </a:r>
            <a:endParaRPr lang="zh-CN" sz="1000"/>
          </a:p>
        </p:txBody>
      </p:sp>
      <p:sp>
        <p:nvSpPr>
          <p:cNvPr id="15" name="Shape 15"/>
          <p:cNvSpPr/>
          <p:nvPr/>
        </p:nvSpPr>
        <p:spPr>
          <a:xfrm>
            <a:off x="6519672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F8FB"/>
                </a:solidFill>
                <a:latin typeface="Aptos"/>
                <a:ea typeface="Microsoft YaHei"/>
              </a:rPr>
              <a:t>真实测量</a:t>
            </a:r>
            <a:endParaRPr lang="zh-CN" sz="2200"/>
          </a:p>
        </p:txBody>
      </p:sp>
      <p:sp>
        <p:nvSpPr>
          <p:cNvPr id="16" name="Shape 16"/>
          <p:cNvSpPr/>
          <p:nvPr/>
        </p:nvSpPr>
        <p:spPr>
          <a:xfrm>
            <a:off x="9098280" y="1828800"/>
            <a:ext cx="224028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7" name="Shape 17"/>
          <p:cNvSpPr/>
          <p:nvPr/>
        </p:nvSpPr>
        <p:spPr>
          <a:xfrm>
            <a:off x="9262872" y="202996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OUTPUT</a:t>
            </a:r>
            <a:endParaRPr lang="zh-CN" sz="1000"/>
          </a:p>
        </p:txBody>
      </p:sp>
      <p:sp>
        <p:nvSpPr>
          <p:cNvPr id="18" name="Shape 18"/>
          <p:cNvSpPr/>
          <p:nvPr/>
        </p:nvSpPr>
        <p:spPr>
          <a:xfrm>
            <a:off x="9262872" y="239572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F8FB"/>
                </a:solidFill>
                <a:latin typeface="Aptos"/>
                <a:ea typeface="Microsoft YaHei"/>
              </a:rPr>
              <a:t>Top-5</a:t>
            </a:r>
            <a:endParaRPr lang="zh-CN" sz="2200"/>
          </a:p>
        </p:txBody>
      </p:sp>
      <p:sp>
        <p:nvSpPr>
          <p:cNvPr id="19" name="Shape 19"/>
          <p:cNvSpPr/>
          <p:nvPr/>
        </p:nvSpPr>
        <p:spPr>
          <a:xfrm>
            <a:off x="868680" y="3520440"/>
            <a:ext cx="10378440" cy="1325880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1143000" y="3794760"/>
            <a:ext cx="9784080" cy="6858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F4F8FB"/>
                </a:solidFill>
                <a:latin typeface="Aptos"/>
                <a:ea typeface="Microsoft YaHei"/>
              </a:rPr>
              <a:t>候选选择综合考虑正确性、性能、差异性、失败风险和评测成本。</a:t>
            </a:r>
            <a:endParaRPr lang="zh-CN" sz="1800"/>
          </a:p>
        </p:txBody>
      </p:sp>
      <p:sp>
        <p:nvSpPr>
          <p:cNvPr id="21" name="Shape 21"/>
          <p:cNvSpPr/>
          <p:nvPr/>
        </p:nvSpPr>
        <p:spPr>
          <a:xfrm>
            <a:off x="914400" y="52120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A261"/>
                </a:solidFill>
                <a:latin typeface="Aptos"/>
                <a:ea typeface="Microsoft YaHei"/>
              </a:rPr>
              <a:t>优化目标不是生成更多代码，而是在固定预算内获得更多有效候选。</a:t>
            </a:r>
            <a:endParaRPr lang="zh-CN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创新四：从候选生成到性能结果的完整证据链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09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777240" y="2148840"/>
            <a:ext cx="1691640" cy="13716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886968" y="24323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父代</a:t>
            </a:r>
            <a:endParaRPr lang="zh-CN" sz="1600"/>
          </a:p>
        </p:txBody>
      </p:sp>
      <p:sp>
        <p:nvSpPr>
          <p:cNvPr id="9" name="Shape 9"/>
          <p:cNvSpPr/>
          <p:nvPr/>
        </p:nvSpPr>
        <p:spPr>
          <a:xfrm>
            <a:off x="886968" y="29077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36C5C7"/>
                </a:solidFill>
                <a:latin typeface="Aptos"/>
                <a:ea typeface="Microsoft YaHei"/>
              </a:rPr>
              <a:t>ID / hash</a:t>
            </a:r>
            <a:endParaRPr lang="zh-CN" sz="1000"/>
          </a:p>
        </p:txBody>
      </p:sp>
      <p:sp>
        <p:nvSpPr>
          <p:cNvPr id="10" name="Shape 10"/>
          <p:cNvSpPr/>
          <p:nvPr/>
        </p:nvSpPr>
        <p:spPr>
          <a:xfrm>
            <a:off x="2496312" y="261518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11" name="Shape 11"/>
          <p:cNvSpPr/>
          <p:nvPr/>
        </p:nvSpPr>
        <p:spPr>
          <a:xfrm>
            <a:off x="3017520" y="2148840"/>
            <a:ext cx="1691640" cy="13716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3127248" y="24323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变异</a:t>
            </a:r>
            <a:endParaRPr lang="zh-CN" sz="1600"/>
          </a:p>
        </p:txBody>
      </p:sp>
      <p:sp>
        <p:nvSpPr>
          <p:cNvPr id="13" name="Shape 13"/>
          <p:cNvSpPr/>
          <p:nvPr/>
        </p:nvSpPr>
        <p:spPr>
          <a:xfrm>
            <a:off x="3127248" y="29077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36C5C7"/>
                </a:solidFill>
                <a:latin typeface="Aptos"/>
                <a:ea typeface="Microsoft YaHei"/>
              </a:rPr>
              <a:t>mutation kind</a:t>
            </a:r>
            <a:endParaRPr lang="zh-CN" sz="1000"/>
          </a:p>
        </p:txBody>
      </p:sp>
      <p:sp>
        <p:nvSpPr>
          <p:cNvPr id="14" name="Shape 14"/>
          <p:cNvSpPr/>
          <p:nvPr/>
        </p:nvSpPr>
        <p:spPr>
          <a:xfrm>
            <a:off x="4736592" y="261518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15" name="Shape 15"/>
          <p:cNvSpPr/>
          <p:nvPr/>
        </p:nvSpPr>
        <p:spPr>
          <a:xfrm>
            <a:off x="5257800" y="2148840"/>
            <a:ext cx="1691640" cy="13716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5367528" y="24323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验证</a:t>
            </a:r>
            <a:endParaRPr lang="zh-CN" sz="1600"/>
          </a:p>
        </p:txBody>
      </p:sp>
      <p:sp>
        <p:nvSpPr>
          <p:cNvPr id="17" name="Shape 17"/>
          <p:cNvSpPr/>
          <p:nvPr/>
        </p:nvSpPr>
        <p:spPr>
          <a:xfrm>
            <a:off x="5367528" y="29077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36C5C7"/>
                </a:solidFill>
                <a:latin typeface="Aptos"/>
                <a:ea typeface="Microsoft YaHei"/>
              </a:rPr>
              <a:t>compile / correct</a:t>
            </a:r>
            <a:endParaRPr lang="zh-CN" sz="1000"/>
          </a:p>
        </p:txBody>
      </p:sp>
      <p:sp>
        <p:nvSpPr>
          <p:cNvPr id="18" name="Shape 18"/>
          <p:cNvSpPr/>
          <p:nvPr/>
        </p:nvSpPr>
        <p:spPr>
          <a:xfrm>
            <a:off x="6976872" y="261518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19" name="Shape 19"/>
          <p:cNvSpPr/>
          <p:nvPr/>
        </p:nvSpPr>
        <p:spPr>
          <a:xfrm>
            <a:off x="7498080" y="2148840"/>
            <a:ext cx="1691640" cy="13716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7607808" y="24323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测量</a:t>
            </a:r>
            <a:endParaRPr lang="zh-CN" sz="1600"/>
          </a:p>
        </p:txBody>
      </p:sp>
      <p:sp>
        <p:nvSpPr>
          <p:cNvPr id="21" name="Shape 21"/>
          <p:cNvSpPr/>
          <p:nvPr/>
        </p:nvSpPr>
        <p:spPr>
          <a:xfrm>
            <a:off x="7607808" y="29077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36C5C7"/>
                </a:solidFill>
                <a:latin typeface="Aptos"/>
                <a:ea typeface="Microsoft YaHei"/>
              </a:rPr>
              <a:t>device / samples</a:t>
            </a:r>
            <a:endParaRPr lang="zh-CN" sz="1000"/>
          </a:p>
        </p:txBody>
      </p:sp>
      <p:sp>
        <p:nvSpPr>
          <p:cNvPr id="22" name="Shape 22"/>
          <p:cNvSpPr/>
          <p:nvPr/>
        </p:nvSpPr>
        <p:spPr>
          <a:xfrm>
            <a:off x="9217152" y="2615184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23" name="Shape 23"/>
          <p:cNvSpPr/>
          <p:nvPr/>
        </p:nvSpPr>
        <p:spPr>
          <a:xfrm>
            <a:off x="9738360" y="2148840"/>
            <a:ext cx="1691640" cy="13716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24" name="Shape 24"/>
          <p:cNvSpPr/>
          <p:nvPr/>
        </p:nvSpPr>
        <p:spPr>
          <a:xfrm>
            <a:off x="9848088" y="24323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输出</a:t>
            </a:r>
            <a:endParaRPr lang="zh-CN" sz="1600"/>
          </a:p>
        </p:txBody>
      </p:sp>
      <p:sp>
        <p:nvSpPr>
          <p:cNvPr id="25" name="Shape 25"/>
          <p:cNvSpPr/>
          <p:nvPr/>
        </p:nvSpPr>
        <p:spPr>
          <a:xfrm>
            <a:off x="9848088" y="2907792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000" b="1">
                <a:solidFill>
                  <a:srgbClr val="36C5C7"/>
                </a:solidFill>
                <a:latin typeface="Aptos"/>
                <a:ea typeface="Microsoft YaHei"/>
              </a:rPr>
              <a:t>rank / Top-5</a:t>
            </a:r>
            <a:endParaRPr lang="zh-CN" sz="1000"/>
          </a:p>
        </p:txBody>
      </p:sp>
      <p:sp>
        <p:nvSpPr>
          <p:cNvPr id="26" name="Shape 26"/>
          <p:cNvSpPr/>
          <p:nvPr/>
        </p:nvSpPr>
        <p:spPr>
          <a:xfrm>
            <a:off x="868680" y="4251960"/>
            <a:ext cx="10332720" cy="914400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27" name="Shape 27"/>
          <p:cNvSpPr/>
          <p:nvPr/>
        </p:nvSpPr>
        <p:spPr>
          <a:xfrm>
            <a:off x="1051560" y="452628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800" b="1">
                <a:solidFill>
                  <a:srgbClr val="F4F8FB"/>
                </a:solidFill>
                <a:latin typeface="Aptos"/>
                <a:ea typeface="Microsoft YaHei"/>
              </a:rPr>
              <a:t>每一个性能数字都能追溯到具体候选、具体测试和具体环境。</a:t>
            </a:r>
            <a:endParaRPr lang="zh-CN" sz="1800"/>
          </a:p>
        </p:txBody>
      </p:sp>
      <p:sp>
        <p:nvSpPr>
          <p:cNvPr id="28" name="Shape 28"/>
          <p:cNvSpPr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本机结果、代理结果和官方 A2/A3 结果分别记录，避免证据越级。</a:t>
            </a:r>
            <a:endParaRPr lang="zh-CN"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多级评测：先保证正确，再追求性能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10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22960" y="2148840"/>
            <a:ext cx="169164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932688" y="23957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语法</a:t>
            </a:r>
            <a:endParaRPr lang="zh-CN" sz="1600"/>
          </a:p>
        </p:txBody>
      </p:sp>
      <p:sp>
        <p:nvSpPr>
          <p:cNvPr id="9" name="Shape 9"/>
          <p:cNvSpPr/>
          <p:nvPr/>
        </p:nvSpPr>
        <p:spPr>
          <a:xfrm>
            <a:off x="932688" y="27889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Syntax</a:t>
            </a:r>
            <a:endParaRPr lang="zh-CN" sz="900"/>
          </a:p>
        </p:txBody>
      </p:sp>
      <p:sp>
        <p:nvSpPr>
          <p:cNvPr id="10" name="Shape 10"/>
          <p:cNvSpPr/>
          <p:nvPr/>
        </p:nvSpPr>
        <p:spPr>
          <a:xfrm>
            <a:off x="2542032" y="2542032"/>
            <a:ext cx="475488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11" name="Shape 11"/>
          <p:cNvSpPr/>
          <p:nvPr/>
        </p:nvSpPr>
        <p:spPr>
          <a:xfrm>
            <a:off x="3063240" y="2148840"/>
            <a:ext cx="169164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3172968" y="23957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接口</a:t>
            </a:r>
            <a:endParaRPr lang="zh-CN" sz="1600"/>
          </a:p>
        </p:txBody>
      </p:sp>
      <p:sp>
        <p:nvSpPr>
          <p:cNvPr id="13" name="Shape 13"/>
          <p:cNvSpPr/>
          <p:nvPr/>
        </p:nvSpPr>
        <p:spPr>
          <a:xfrm>
            <a:off x="3172968" y="27889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Contract</a:t>
            </a:r>
            <a:endParaRPr lang="zh-CN" sz="900"/>
          </a:p>
        </p:txBody>
      </p:sp>
      <p:sp>
        <p:nvSpPr>
          <p:cNvPr id="14" name="Shape 14"/>
          <p:cNvSpPr/>
          <p:nvPr/>
        </p:nvSpPr>
        <p:spPr>
          <a:xfrm>
            <a:off x="4782312" y="2542032"/>
            <a:ext cx="475488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15" name="Shape 15"/>
          <p:cNvSpPr/>
          <p:nvPr/>
        </p:nvSpPr>
        <p:spPr>
          <a:xfrm>
            <a:off x="5303520" y="2148840"/>
            <a:ext cx="169164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5413248" y="23957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导入</a:t>
            </a:r>
            <a:endParaRPr lang="zh-CN" sz="1600"/>
          </a:p>
        </p:txBody>
      </p:sp>
      <p:sp>
        <p:nvSpPr>
          <p:cNvPr id="17" name="Shape 17"/>
          <p:cNvSpPr/>
          <p:nvPr/>
        </p:nvSpPr>
        <p:spPr>
          <a:xfrm>
            <a:off x="5413248" y="27889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Import</a:t>
            </a:r>
            <a:endParaRPr lang="zh-CN" sz="900"/>
          </a:p>
        </p:txBody>
      </p:sp>
      <p:sp>
        <p:nvSpPr>
          <p:cNvPr id="18" name="Shape 18"/>
          <p:cNvSpPr/>
          <p:nvPr/>
        </p:nvSpPr>
        <p:spPr>
          <a:xfrm>
            <a:off x="7022592" y="2542032"/>
            <a:ext cx="475488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19" name="Shape 19"/>
          <p:cNvSpPr/>
          <p:nvPr/>
        </p:nvSpPr>
        <p:spPr>
          <a:xfrm>
            <a:off x="7543800" y="2148840"/>
            <a:ext cx="169164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7653527" y="23957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正确性</a:t>
            </a:r>
            <a:endParaRPr lang="zh-CN" sz="1600"/>
          </a:p>
        </p:txBody>
      </p:sp>
      <p:sp>
        <p:nvSpPr>
          <p:cNvPr id="21" name="Shape 21"/>
          <p:cNvSpPr/>
          <p:nvPr/>
        </p:nvSpPr>
        <p:spPr>
          <a:xfrm>
            <a:off x="7653527" y="27889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Correctness</a:t>
            </a:r>
            <a:endParaRPr lang="zh-CN" sz="900"/>
          </a:p>
        </p:txBody>
      </p:sp>
      <p:sp>
        <p:nvSpPr>
          <p:cNvPr id="22" name="Shape 22"/>
          <p:cNvSpPr/>
          <p:nvPr/>
        </p:nvSpPr>
        <p:spPr>
          <a:xfrm>
            <a:off x="9262872" y="2542032"/>
            <a:ext cx="475488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0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000"/>
          </a:p>
        </p:txBody>
      </p:sp>
      <p:sp>
        <p:nvSpPr>
          <p:cNvPr id="23" name="Shape 23"/>
          <p:cNvSpPr/>
          <p:nvPr/>
        </p:nvSpPr>
        <p:spPr>
          <a:xfrm>
            <a:off x="9784080" y="2148840"/>
            <a:ext cx="1691640" cy="123444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F4A261"/>
            </a:solidFill>
          </a:ln>
        </p:spPr>
        <p:txBody>
          <a:bodyPr/>
          <a:lstStyle/>
        </p:txBody>
      </p:sp>
      <p:sp>
        <p:nvSpPr>
          <p:cNvPr id="24" name="Shape 24"/>
          <p:cNvSpPr/>
          <p:nvPr/>
        </p:nvSpPr>
        <p:spPr>
          <a:xfrm>
            <a:off x="9893808" y="23957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性能</a:t>
            </a:r>
            <a:endParaRPr lang="zh-CN" sz="1600"/>
          </a:p>
        </p:txBody>
      </p:sp>
      <p:sp>
        <p:nvSpPr>
          <p:cNvPr id="25" name="Shape 25"/>
          <p:cNvSpPr/>
          <p:nvPr/>
        </p:nvSpPr>
        <p:spPr>
          <a:xfrm>
            <a:off x="9893808" y="27889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Performance</a:t>
            </a:r>
            <a:endParaRPr lang="zh-CN" sz="900"/>
          </a:p>
        </p:txBody>
      </p:sp>
      <p:sp>
        <p:nvSpPr>
          <p:cNvPr id="26" name="Shape 26"/>
          <p:cNvSpPr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任何一层失败，候选都会被记录并停止继续消耗更高成本的评测资源。</a:t>
            </a:r>
            <a:endParaRPr lang="zh-CN" sz="1700"/>
          </a:p>
        </p:txBody>
      </p:sp>
      <p:sp>
        <p:nvSpPr>
          <p:cNvPr id="27" name="Shape 27"/>
          <p:cNvSpPr/>
          <p:nvPr/>
        </p:nvSpPr>
        <p:spPr>
          <a:xfrm>
            <a:off x="914400" y="4800600"/>
            <a:ext cx="4800600" cy="621792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28" name="Shape 28"/>
          <p:cNvSpPr/>
          <p:nvPr/>
        </p:nvSpPr>
        <p:spPr>
          <a:xfrm>
            <a:off x="1078992" y="4992624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400" b="1">
                <a:solidFill>
                  <a:srgbClr val="36C5C7"/>
                </a:solidFill>
                <a:latin typeface="Aptos"/>
                <a:ea typeface="Microsoft YaHei"/>
              </a:rPr>
              <a:t>通过候选 → 进入进化种群</a:t>
            </a:r>
            <a:endParaRPr lang="zh-CN" sz="1400"/>
          </a:p>
        </p:txBody>
      </p:sp>
      <p:sp>
        <p:nvSpPr>
          <p:cNvPr id="29" name="Shape 29"/>
          <p:cNvSpPr/>
          <p:nvPr/>
        </p:nvSpPr>
        <p:spPr>
          <a:xfrm>
            <a:off x="6446520" y="4800600"/>
            <a:ext cx="4800600" cy="621792"/>
          </a:xfrm>
          <a:prstGeom prst="roundRect">
            <a:avLst/>
          </a:prstGeom>
          <a:solidFill>
            <a:srgbClr val="2C2027"/>
          </a:solidFill>
          <a:ln w="12700">
            <a:solidFill>
              <a:srgbClr val="D96C75"/>
            </a:solidFill>
          </a:ln>
        </p:spPr>
        <p:txBody>
          <a:bodyPr/>
          <a:lstStyle/>
        </p:txBody>
      </p:sp>
      <p:sp>
        <p:nvSpPr>
          <p:cNvPr id="30" name="Shape 30"/>
          <p:cNvSpPr/>
          <p:nvPr/>
        </p:nvSpPr>
        <p:spPr>
          <a:xfrm>
            <a:off x="6611112" y="4992624"/>
            <a:ext cx="4480560" cy="219456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400" b="1">
                <a:solidFill>
                  <a:srgbClr val="D96C75"/>
                </a:solidFill>
                <a:latin typeface="Aptos"/>
                <a:ea typeface="Microsoft YaHei"/>
              </a:rPr>
              <a:t>失败候选 → 进入失败历史</a:t>
            </a:r>
            <a:endParaRPr 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本机 Ascend 开发验证：21 个公开算子资格闭环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11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868680" y="1783080"/>
            <a:ext cx="2514600" cy="23317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8" name="Shape 8"/>
          <p:cNvSpPr/>
          <p:nvPr/>
        </p:nvSpPr>
        <p:spPr>
          <a:xfrm>
            <a:off x="1097280" y="2057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3000" b="1">
                <a:solidFill>
                  <a:srgbClr val="36C5C7"/>
                </a:solidFill>
                <a:latin typeface="Aptos"/>
                <a:ea typeface="Microsoft YaHei"/>
              </a:rPr>
              <a:t>21 / 21</a:t>
            </a:r>
            <a:endParaRPr lang="zh-CN" sz="3000"/>
          </a:p>
        </p:txBody>
      </p:sp>
      <p:sp>
        <p:nvSpPr>
          <p:cNvPr id="9" name="Shape 9"/>
          <p:cNvSpPr/>
          <p:nvPr/>
        </p:nvSpPr>
        <p:spPr>
          <a:xfrm>
            <a:off x="1097280" y="2697480"/>
            <a:ext cx="2057400" cy="6858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600" b="1">
                <a:solidFill>
                  <a:srgbClr val="F4F8FB"/>
                </a:solidFill>
                <a:latin typeface="Aptos"/>
                <a:ea typeface="Microsoft YaHei"/>
              </a:rPr>
              <a:t>当前可见 case
本机资格矩阵</a:t>
            </a:r>
            <a:endParaRPr lang="zh-CN" sz="1600"/>
          </a:p>
        </p:txBody>
      </p:sp>
      <p:sp>
        <p:nvSpPr>
          <p:cNvPr id="10" name="Shape 10"/>
          <p:cNvSpPr/>
          <p:nvPr/>
        </p:nvSpPr>
        <p:spPr>
          <a:xfrm>
            <a:off x="3657600" y="1783080"/>
            <a:ext cx="3154680" cy="23317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1" name="Shape 11"/>
          <p:cNvSpPr/>
          <p:nvPr/>
        </p:nvSpPr>
        <p:spPr>
          <a:xfrm>
            <a:off x="3657600" y="1783080"/>
            <a:ext cx="54864" cy="2331720"/>
          </a:xfrm>
          <a:prstGeom prst="rect">
            <a:avLst/>
          </a:prstGeom>
          <a:solidFill>
            <a:srgbClr val="8BD3DD"/>
          </a:solidFill>
          <a:ln>
            <a:noFill/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3840480" y="1947672"/>
            <a:ext cx="284378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验证口径</a:t>
            </a:r>
            <a:endParaRPr lang="zh-CN" sz="1500"/>
          </a:p>
        </p:txBody>
      </p:sp>
      <p:sp>
        <p:nvSpPr>
          <p:cNvPr id="13" name="Shape 13"/>
          <p:cNvSpPr/>
          <p:nvPr/>
        </p:nvSpPr>
        <p:spPr>
          <a:xfrm>
            <a:off x="3840480" y="2350008"/>
            <a:ext cx="2843784" cy="1618487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真实 Ascend 910B4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正确性测试通过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B,C,C,B 配对测量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median ratio ≤ 1.03</a:t>
            </a:r>
            <a:endParaRPr lang="zh-CN" sz="1300"/>
          </a:p>
        </p:txBody>
      </p:sp>
      <p:sp>
        <p:nvSpPr>
          <p:cNvPr id="14" name="Shape 14"/>
          <p:cNvSpPr/>
          <p:nvPr/>
        </p:nvSpPr>
        <p:spPr>
          <a:xfrm>
            <a:off x="7086600" y="1783080"/>
            <a:ext cx="4160520" cy="233172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1D4054"/>
            </a:solidFill>
          </a:ln>
        </p:spPr>
        <p:txBody>
          <a:bodyPr/>
          <a:lstStyle/>
        </p:txBody>
      </p:sp>
      <p:sp>
        <p:nvSpPr>
          <p:cNvPr id="15" name="Shape 15"/>
          <p:cNvSpPr/>
          <p:nvPr/>
        </p:nvSpPr>
        <p:spPr>
          <a:xfrm>
            <a:off x="7086600" y="1783080"/>
            <a:ext cx="54864" cy="2331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</p:txBody>
      </p:sp>
      <p:sp>
        <p:nvSpPr>
          <p:cNvPr id="16" name="Shape 16"/>
          <p:cNvSpPr/>
          <p:nvPr/>
        </p:nvSpPr>
        <p:spPr>
          <a:xfrm>
            <a:off x="7269480" y="1947672"/>
            <a:ext cx="3849624" cy="292608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500" b="1">
                <a:solidFill>
                  <a:srgbClr val="F4F8FB"/>
                </a:solidFill>
                <a:latin typeface="Aptos"/>
                <a:ea typeface="Microsoft YaHei"/>
              </a:rPr>
              <a:t>代表性 ratio</a:t>
            </a:r>
            <a:endParaRPr lang="zh-CN" sz="1500"/>
          </a:p>
        </p:txBody>
      </p:sp>
      <p:sp>
        <p:nvSpPr>
          <p:cNvPr id="17" name="Shape 17"/>
          <p:cNvSpPr/>
          <p:nvPr/>
        </p:nvSpPr>
        <p:spPr>
          <a:xfrm>
            <a:off x="7269480" y="2350008"/>
            <a:ext cx="3849624" cy="1618487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chunk_cumsum：0.15686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ep_gather：0.48065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log_softmax：0.58038</a:t>
            </a:r>
            <a:endParaRPr lang="zh-CN" sz="1300"/>
          </a:p>
          <a:p>
            <a:pPr algn="l">
              <a:buChar char="•"/>
            </a:pPr>
            <a:r>
              <a:rPr lang="zh-CN" sz="1300">
                <a:solidFill>
                  <a:srgbClr val="B7C9D8"/>
                </a:solidFill>
                <a:latin typeface="Aptos"/>
                <a:ea typeface="Microsoft YaHei"/>
              </a:rPr>
              <a:t>state_passing：0.85577</a:t>
            </a:r>
            <a:endParaRPr lang="zh-CN" sz="1300"/>
          </a:p>
        </p:txBody>
      </p:sp>
      <p:sp>
        <p:nvSpPr>
          <p:cNvPr id="18" name="Shape 18"/>
          <p:cNvSpPr/>
          <p:nvPr/>
        </p:nvSpPr>
        <p:spPr>
          <a:xfrm>
            <a:off x="868680" y="4526280"/>
            <a:ext cx="10378440" cy="868680"/>
          </a:xfrm>
          <a:prstGeom prst="roundRect">
            <a:avLst/>
          </a:prstGeom>
          <a:solidFill>
            <a:srgbClr val="2C2027"/>
          </a:solidFill>
          <a:ln w="12700">
            <a:solidFill>
              <a:srgbClr val="D96C75"/>
            </a:solidFill>
          </a:ln>
        </p:spPr>
        <p:txBody>
          <a:bodyPr/>
          <a:lstStyle/>
        </p:txBody>
      </p:sp>
      <p:sp>
        <p:nvSpPr>
          <p:cNvPr id="19" name="Shape 19"/>
          <p:cNvSpPr/>
          <p:nvPr/>
        </p:nvSpPr>
        <p:spPr>
          <a:xfrm>
            <a:off x="1097280" y="4754880"/>
            <a:ext cx="9921240" cy="32004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400" b="1">
                <a:solidFill>
                  <a:srgbClr val="F4F8FB"/>
                </a:solidFill>
                <a:latin typeface="Aptos"/>
                <a:ea typeface="Microsoft YaHei"/>
              </a:rPr>
              <a:t>证据边界：这是本机 910B4、当前可见 case 的开发证据，不是官方 A2/A3 成绩，也不代表最终比赛排名。</a:t>
            </a:r>
            <a:endParaRPr lang="zh-CN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21"/>
          </a:solidFill>
          <a:ln>
            <a:noFill/>
          </a:ln>
        </p:spPr>
        <p:txBody>
          <a:bodyPr/>
          <a:lstStyle/>
        </p:txBody>
      </p:sp>
      <p:sp>
        <p:nvSpPr>
          <p:cNvPr id="2" name="Shape 2"/>
          <p:cNvSpPr/>
          <p:nvPr/>
        </p:nvSpPr>
        <p:spPr>
          <a:xfrm>
            <a:off x="566928" y="475488"/>
            <a:ext cx="73152" cy="621792"/>
          </a:xfrm>
          <a:prstGeom prst="rect">
            <a:avLst/>
          </a:prstGeom>
          <a:solidFill>
            <a:srgbClr val="36C5C7"/>
          </a:solidFill>
          <a:ln>
            <a:noFill/>
          </a:ln>
        </p:spPr>
        <p:txBody>
          <a:bodyPr/>
          <a:lstStyle/>
        </p:txBody>
      </p:sp>
      <p:sp>
        <p:nvSpPr>
          <p:cNvPr id="3" name="Shape 3"/>
          <p:cNvSpPr/>
          <p:nvPr/>
        </p:nvSpPr>
        <p:spPr>
          <a:xfrm>
            <a:off x="804672" y="43891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900" b="1">
                <a:solidFill>
                  <a:srgbClr val="6D8AA0"/>
                </a:solidFill>
                <a:latin typeface="Aptos"/>
                <a:ea typeface="Microsoft YaHei"/>
              </a:rPr>
              <a:t>TRITON OPTIMIZATION AGENT</a:t>
            </a:r>
            <a:endParaRPr lang="zh-CN" sz="900"/>
          </a:p>
        </p:txBody>
      </p:sp>
      <p:sp>
        <p:nvSpPr>
          <p:cNvPr id="4" name="Shape 4"/>
          <p:cNvSpPr/>
          <p:nvPr/>
        </p:nvSpPr>
        <p:spPr>
          <a:xfrm>
            <a:off x="804672" y="71323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2500" b="1">
                <a:solidFill>
                  <a:srgbClr val="F4F8FB"/>
                </a:solidFill>
                <a:latin typeface="Aptos"/>
                <a:ea typeface="Microsoft YaHei"/>
              </a:rPr>
              <a:t>总结：让 Triton 优化从人工试错走向自动搜索</a:t>
            </a:r>
            <a:endParaRPr lang="zh-CN" sz="2500"/>
          </a:p>
        </p:txBody>
      </p:sp>
      <p:sp>
        <p:nvSpPr>
          <p:cNvPr id="5" name="Shape 5"/>
          <p:cNvSpPr/>
          <p:nvPr/>
        </p:nvSpPr>
        <p:spPr>
          <a:xfrm>
            <a:off x="10835640" y="48463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r"/>
            <a:r>
              <a:rPr lang="zh-CN" sz="1000" b="1">
                <a:solidFill>
                  <a:srgbClr val="6D8AA0"/>
                </a:solidFill>
                <a:latin typeface="Aptos"/>
                <a:ea typeface="Microsoft YaHei"/>
              </a:rPr>
              <a:t>12 / 12</a:t>
            </a:r>
            <a:endParaRPr lang="zh-CN" sz="1000"/>
          </a:p>
        </p:txBody>
      </p:sp>
      <p:sp>
        <p:nvSpPr>
          <p:cNvPr id="6" name="Shape 6"/>
          <p:cNvSpPr/>
          <p:nvPr/>
        </p:nvSpPr>
        <p:spPr>
          <a:xfrm>
            <a:off x="804672" y="1353312"/>
            <a:ext cx="10561320" cy="13716"/>
          </a:xfrm>
          <a:prstGeom prst="rect">
            <a:avLst/>
          </a:prstGeom>
          <a:solidFill>
            <a:srgbClr val="1D3548"/>
          </a:solidFill>
          <a:ln>
            <a:noFill/>
          </a:ln>
        </p:spPr>
        <p:txBody>
          <a:bodyPr/>
          <a:lstStyle/>
        </p:txBody>
      </p:sp>
      <p:sp>
        <p:nvSpPr>
          <p:cNvPr id="7" name="Shape 7"/>
          <p:cNvSpPr/>
          <p:nvPr/>
        </p:nvSpPr>
        <p:spPr>
          <a:xfrm>
            <a:off x="914400" y="1783080"/>
            <a:ext cx="10287000" cy="59436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F8FB"/>
                </a:solidFill>
                <a:latin typeface="Aptos"/>
                <a:ea typeface="Microsoft YaHei"/>
              </a:rPr>
              <a:t>大模型提供搜索空间，进化算法组织搜索过程，真实评测提供可信反馈。</a:t>
            </a:r>
            <a:endParaRPr lang="zh-CN" sz="2200"/>
          </a:p>
        </p:txBody>
      </p:sp>
      <p:sp>
        <p:nvSpPr>
          <p:cNvPr id="8" name="Shape 8"/>
          <p:cNvSpPr/>
          <p:nvPr/>
        </p:nvSpPr>
        <p:spPr>
          <a:xfrm>
            <a:off x="1005840" y="2788920"/>
            <a:ext cx="2057400" cy="11430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9" name="Shape 9"/>
          <p:cNvSpPr/>
          <p:nvPr/>
        </p:nvSpPr>
        <p:spPr>
          <a:xfrm>
            <a:off x="1143000" y="31272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36C5C7"/>
                </a:solidFill>
                <a:latin typeface="Aptos"/>
                <a:ea typeface="Microsoft YaHei"/>
              </a:rPr>
              <a:t>候选生成</a:t>
            </a:r>
            <a:endParaRPr lang="zh-CN" sz="1700"/>
          </a:p>
        </p:txBody>
      </p:sp>
      <p:sp>
        <p:nvSpPr>
          <p:cNvPr id="10" name="Shape 10"/>
          <p:cNvSpPr/>
          <p:nvPr/>
        </p:nvSpPr>
        <p:spPr>
          <a:xfrm>
            <a:off x="3246120" y="31272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3977639" y="2788920"/>
            <a:ext cx="2057400" cy="11430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F4A261"/>
            </a:solidFill>
          </a:ln>
        </p:spPr>
        <p:txBody>
          <a:bodyPr/>
          <a:lstStyle/>
        </p:txBody>
      </p:sp>
      <p:sp>
        <p:nvSpPr>
          <p:cNvPr id="12" name="Shape 12"/>
          <p:cNvSpPr/>
          <p:nvPr/>
        </p:nvSpPr>
        <p:spPr>
          <a:xfrm>
            <a:off x="4114800" y="31272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A261"/>
                </a:solidFill>
                <a:latin typeface="Aptos"/>
                <a:ea typeface="Microsoft YaHei"/>
              </a:rPr>
              <a:t>进化搜索</a:t>
            </a:r>
            <a:endParaRPr lang="zh-CN" sz="1700"/>
          </a:p>
        </p:txBody>
      </p:sp>
      <p:sp>
        <p:nvSpPr>
          <p:cNvPr id="13" name="Shape 13"/>
          <p:cNvSpPr/>
          <p:nvPr/>
        </p:nvSpPr>
        <p:spPr>
          <a:xfrm>
            <a:off x="6217920" y="31272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200"/>
          </a:p>
        </p:txBody>
      </p:sp>
      <p:sp>
        <p:nvSpPr>
          <p:cNvPr id="14" name="Shape 14"/>
          <p:cNvSpPr/>
          <p:nvPr/>
        </p:nvSpPr>
        <p:spPr>
          <a:xfrm>
            <a:off x="6949440" y="2788920"/>
            <a:ext cx="2057400" cy="1143000"/>
          </a:xfrm>
          <a:prstGeom prst="roundRect">
            <a:avLst/>
          </a:prstGeom>
          <a:solidFill>
            <a:srgbClr val="102536"/>
          </a:solidFill>
          <a:ln w="12700">
            <a:solidFill>
              <a:srgbClr val="8BD3DD"/>
            </a:solidFill>
          </a:ln>
        </p:spPr>
        <p:txBody>
          <a:bodyPr/>
          <a:lstStyle/>
        </p:txBody>
      </p:sp>
      <p:sp>
        <p:nvSpPr>
          <p:cNvPr id="15" name="Shape 15"/>
          <p:cNvSpPr/>
          <p:nvPr/>
        </p:nvSpPr>
        <p:spPr>
          <a:xfrm>
            <a:off x="7086600" y="31272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8BD3DD"/>
                </a:solidFill>
                <a:latin typeface="Aptos"/>
                <a:ea typeface="Microsoft YaHei"/>
              </a:rPr>
              <a:t>真实验证</a:t>
            </a:r>
            <a:endParaRPr lang="zh-CN" sz="1700"/>
          </a:p>
        </p:txBody>
      </p:sp>
      <p:sp>
        <p:nvSpPr>
          <p:cNvPr id="16" name="Shape 16"/>
          <p:cNvSpPr/>
          <p:nvPr/>
        </p:nvSpPr>
        <p:spPr>
          <a:xfrm>
            <a:off x="9189720" y="31272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2200" b="1">
                <a:solidFill>
                  <a:srgbClr val="F4A261"/>
                </a:solidFill>
                <a:latin typeface="Aptos"/>
                <a:ea typeface="Microsoft YaHei"/>
              </a:rPr>
              <a:t>→</a:t>
            </a:r>
            <a:endParaRPr lang="zh-CN" sz="2200"/>
          </a:p>
        </p:txBody>
      </p:sp>
      <p:sp>
        <p:nvSpPr>
          <p:cNvPr id="17" name="Shape 17"/>
          <p:cNvSpPr/>
          <p:nvPr/>
        </p:nvSpPr>
        <p:spPr>
          <a:xfrm>
            <a:off x="9921240" y="2788920"/>
            <a:ext cx="1371600" cy="1143000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36C5C7"/>
            </a:solidFill>
          </a:ln>
        </p:spPr>
        <p:txBody>
          <a:bodyPr/>
          <a:lstStyle/>
        </p:txBody>
      </p:sp>
      <p:sp>
        <p:nvSpPr>
          <p:cNvPr id="18" name="Shape 18"/>
          <p:cNvSpPr/>
          <p:nvPr/>
        </p:nvSpPr>
        <p:spPr>
          <a:xfrm>
            <a:off x="10021824" y="3127248"/>
            <a:ext cx="1170432" cy="27432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36C5C7"/>
                </a:solidFill>
                <a:latin typeface="Aptos"/>
                <a:ea typeface="Microsoft YaHei"/>
              </a:rPr>
              <a:t>Top-5</a:t>
            </a:r>
            <a:endParaRPr lang="zh-CN" sz="1700"/>
          </a:p>
        </p:txBody>
      </p:sp>
      <p:sp>
        <p:nvSpPr>
          <p:cNvPr id="19" name="Shape 19"/>
          <p:cNvSpPr/>
          <p:nvPr/>
        </p:nvSpPr>
        <p:spPr>
          <a:xfrm>
            <a:off x="914400" y="4754880"/>
            <a:ext cx="10332720" cy="713232"/>
          </a:xfrm>
          <a:prstGeom prst="roundRect">
            <a:avLst/>
          </a:prstGeom>
          <a:solidFill>
            <a:srgbClr val="123044"/>
          </a:solidFill>
          <a:ln w="12700">
            <a:solidFill>
              <a:srgbClr val="2B7180"/>
            </a:solidFill>
          </a:ln>
        </p:spPr>
        <p:txBody>
          <a:bodyPr/>
          <a:lstStyle/>
        </p:txBody>
      </p:sp>
      <p:sp>
        <p:nvSpPr>
          <p:cNvPr id="20" name="Shape 20"/>
          <p:cNvSpPr/>
          <p:nvPr/>
        </p:nvSpPr>
        <p:spPr>
          <a:xfrm>
            <a:off x="1097280" y="4956048"/>
            <a:ext cx="9966960" cy="256032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c"/>
            <a:r>
              <a:rPr lang="zh-CN" sz="1700" b="1">
                <a:solidFill>
                  <a:srgbClr val="F4F8FB"/>
                </a:solidFill>
                <a:latin typeface="Aptos"/>
                <a:ea typeface="Microsoft YaHei"/>
              </a:rPr>
              <a:t>在有限预算内，持续提出、验证、筛选并复用高质量 Triton 优化策略。</a:t>
            </a:r>
            <a:endParaRPr lang="zh-CN" sz="1700"/>
          </a:p>
        </p:txBody>
      </p:sp>
      <p:sp>
        <p:nvSpPr>
          <p:cNvPr id="21" name="Shape 21"/>
          <p:cNvSpPr/>
          <p:nvPr/>
        </p:nvSpPr>
        <p:spPr>
          <a:xfrm>
            <a:off x="914400" y="594360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lIns="73152" rIns="73152" tIns="73152" bIns="73152" vert="horz" anchor="t" wrap="square"/>
          <a:lstStyle/>
          <a:p>
            <a:pPr algn="l"/>
            <a:r>
              <a:rPr lang="zh-CN" sz="1100" b="1">
                <a:solidFill>
                  <a:srgbClr val="6D8AA0"/>
                </a:solidFill>
                <a:latin typeface="Aptos"/>
                <a:ea typeface="Microsoft YaHei"/>
              </a:rPr>
              <a:t>谢谢各位评委</a:t>
            </a:r>
            <a:endParaRPr lang="zh-CN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ton Agent">
  <a:themeElements>
    <a:clrScheme name="Triton">
      <a:dk1>
        <a:srgbClr val="091521"/>
      </a:dk1>
      <a:lt1>
        <a:srgbClr val="F4F8FB"/>
      </a:lt1>
      <a:accent1>
        <a:srgbClr val="36C5C7"/>
      </a:accent1>
      <a:accent2>
        <a:srgbClr val="F4A261"/>
      </a:accent2>
      <a:accent3>
        <a:srgbClr val="8BD3DD"/>
      </a:accent3>
      <a:accent4>
        <a:srgbClr val="D96C75"/>
      </a:accent4>
      <a:accent5>
        <a:srgbClr val="6D8AA0"/>
      </a:accent5>
      <a:accent6>
        <a:srgbClr val="1D4054"/>
      </a:accent6>
      <a:hlink>
        <a:srgbClr val="36C5C7"/>
      </a:hlink>
      <a:folHlink>
        <a:srgbClr val="F4A261"/>
      </a:folHlink>
    </a:clrScheme>
    <a:fontScheme name="Triton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Triton">
      <a:fillStyleLst/>
      <a:lnStyleLst/>
      <a:effectStyleLst/>
      <a:bgFillStyleLst/>
    </a:fmtScheme>
  </a:themeElements>
</a:theme>
</file>